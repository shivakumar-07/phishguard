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26c9b50-833c-3c6a-a04b-e304818a5562}">
          <p14:sldIdLst>
            <p14:sldId id="256"/>
          </p14:sldIdLst>
        </p14:section>
        <p14:section name="Problem" id="{ecce91a7-69b2-543f-b24a-63d12b75e4e2}">
          <p14:sldIdLst>
            <p14:sldId id="257"/>
            <p14:sldId id="258"/>
          </p14:sldIdLst>
        </p14:section>
        <p14:section name="Solution" id="{c0ef8e26-4eb6-ca70-0bb5-580c794fc712}">
          <p14:sldIdLst>
            <p14:sldId id="259"/>
            <p14:sldId id="260"/>
            <p14:sldId id="261"/>
            <p14:sldId id="262"/>
          </p14:sldIdLst>
        </p14:section>
        <p14:section name="Results" id="{f38a95d8-4cd4-370a-d6ca-b819cf20adaf}">
          <p14:sldIdLst>
            <p14:sldId id="263"/>
            <p14:sldId id="264"/>
            <p14:sldId id="269"/>
            <p14:sldId id="270"/>
          </p14:sldIdLst>
        </p14:section>
        <p14:section name="Product" id="{87df9479-f800-fec6-07a5-bce3f7b3b74f}">
          <p14:sldIdLst>
            <p14:sldId id="265"/>
            <p14:sldId id="266"/>
            <p14:sldId id="267"/>
            <p14:sldId id="268"/>
          </p14:sldIdLst>
        </p14:section>
        <p14:section name="Close" id="{03649228-09d8-1f22-38c7-445f286509e3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rgbClr val="0B1F3A"/>
                </a:solidFill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  <p:sp>
        <p:nvSpPr>
          <p:cNvPr id="3" name="Text 0"/>
          <p:cNvSpPr/>
          <p:nvPr/>
        </p:nvSpPr>
        <p:spPr>
          <a:xfrm>
            <a:off x="566928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</a:rPr>
              <a:t>PhishGuard — on-device scam &amp; phishing protection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hishGuard/extension/icons/icon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9601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3774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PhishGuard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310128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On-device AI that stops phishing and scams before the click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397764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B4DE"/>
                </a:solidFill>
              </a:rPr>
              <a:t>Links · Emails &amp; messages · QR payments — scored in 1 ms, fully offline, nothing ever leaves the browser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B4DE"/>
                </a:solidFill>
              </a:rPr>
              <a:t>Major Project · 2026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      github.com/shivakumar-07/PhishGuard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Scams are the internet's most expensive everyday crime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" y="129844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03B3B"/>
                </a:solidFill>
              </a:rPr>
              <a:t>$12.5B+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02996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cybercrime losses reported to the FBI's IC3 in a single year — phishing is the top entry point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07408" y="118872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7136" y="129844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03B3B"/>
                </a:solidFill>
              </a:rPr>
              <a:t>₹22,800 cr+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202996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cyber-fraud losses reported in India in 2024 (I4C) — actual losses run far higher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47888" y="1188720"/>
            <a:ext cx="3374136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2984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8500"/>
                </a:solidFill>
              </a:rPr>
              <a:t>~1 hour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29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typical lifetime of a phishing domain — created, used, gone before blacklists react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The lures everyone's phone receives every week: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40156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351129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“Your account will be blocked — complete KYC now”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42885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bank / KYC suspension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07408" y="340156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51129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“Share the OTP to receive your refund”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2885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OTP theft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47888" y="340156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351129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“Parcel held — pay a small redelivery fee”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428853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courier / customs fee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81888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492861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“Earn ₹5,000 daily — ₹499 registration”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570585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job-task scam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481888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35424" y="492861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“Guaranteed returns, double in 21 days”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570585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investment fraud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47888" y="4818888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75904" y="4928616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A"/>
                </a:solidFill>
              </a:rPr>
              <a:t>“Scan this QR to receive your prize money”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5705856"/>
            <a:ext cx="3401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</a:rPr>
              <a:t>QR payment fraud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</a:rPr>
              <a:t>Victims aren't careless — the lures are engineered to beat attention. Defenses must meet people where the scam arrives.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Why today's defenses keep losing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3533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03B3B"/>
                </a:solidFill>
              </a:rPr>
              <a:t>Blacklists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1353312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React to known URLs only — hours-old phishing domains sail through the gap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2585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03B3B"/>
                </a:solidFill>
              </a:rPr>
              <a:t>Server-side checkers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377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Every URL you visit is sent to someone's cloud — a privacy cost users increasingly refuse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28269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401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03B3B"/>
                </a:solidFill>
              </a:rPr>
              <a:t>Single-channel tools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40156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Check links OR email — but the losses come from messages and QR codes too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30682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4256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03B3B"/>
                </a:solidFill>
              </a:rPr>
              <a:t>Black-box verdicts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4425696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“Blocked.” — no evidence, no advice, no learning; users turn protection off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33095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54498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03B3B"/>
                </a:solidFill>
              </a:rPr>
              <a:t>False positives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544982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Flag one bank search result and the user uninstalls — accuracy without trust is worthless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PhishGuard — one detector, two surfaces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188720"/>
            <a:ext cx="6035040" cy="4617720"/>
          </a:xfrm>
          <a:prstGeom prst="roundRect">
            <a:avLst>
              <a:gd name="adj" fmla="val 138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</a:rPr>
              <a:t>Browser extension — for everyone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Blocks phishing pages before they load — warning page with evidence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Catches look-alike domains: paypa1.com, arnazon.com, paypal.support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Scam Message Analyzer: names the scam, tells you what to do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QR checker: decodes UPI payments — shows who you'd really pay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Password-entry guard on little-known sites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Red-outlines dangerous links on any page; right-click scan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CA30C"/>
                </a:solidFill>
              </a:rPr>
              <a:t>100% offline — zero network requests, ever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84848" y="1188720"/>
            <a:ext cx="4846320" cy="4617720"/>
          </a:xfrm>
          <a:prstGeom prst="roundRect">
            <a:avLst>
              <a:gd name="adj" fmla="val 138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</a:rPr>
              <a:t>Dashboard + API — for security teams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86600" y="182880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FastAPI service with the full hybrid ensemble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Live threat feed over WebSockets — verdicts appear instantly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Risk dial, per-model votes, rule evidence for every scan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SQLite history, stats, auto-generated API docs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Docker deployment; one-command retraining pipeline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4892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Same engine, byte-identical trust data,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verified parity between Python and JavaScript.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Five-stage pipeline, end to end</a:t>
            </a:r>
            <a:endParaRPr lang="en-US" sz="2900" dirty="0"/>
          </a:p>
        </p:txBody>
      </p:sp>
      <p:pic>
        <p:nvPicPr>
          <p:cNvPr id="3" name="Image 0" descr="/home/claude/PhishGuard/docs/imag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078992"/>
            <a:ext cx="5074920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Public datasets in, working product out — every stage is one command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Training on 411K URLs and 45K emails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Two feature views per URL; TF-IDF views per email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869680" y="14630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Weighted soft-voting ensembles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Explainable rule layer on top of ML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Real-time serving: API + WebSockets + on-device JS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Research-grade data, engineered features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92024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Labeled URL corpus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411,242 URLs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URL detector training (16% phishing)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phishing_pot — real phishing emails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12,265 emails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malicious email class (CC-BY-4.0)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Enron corpus (ham + spam)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33,716 emails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legitimate class + deceptive-bulk augmentation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Chrome UX Report top-1M origins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760,365 domains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global reputation (Bloom filter)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Mozilla Public Suffix List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10,397 rules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correct registered-domain parsing, every TLD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4160520"/>
            <a:ext cx="3584448" cy="2011680"/>
          </a:xfrm>
          <a:prstGeom prst="roundRect">
            <a:avLst>
              <a:gd name="adj" fmla="val 318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4088" y="42976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</a:rPr>
              <a:t>URL — lexical view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04088" y="4681728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30 hand-crafted features: length stats, entropy, IP-host, @-tricks, subdomain depth, brand-outside-domain, suspicious TLDs &amp; keywords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34256" y="4160520"/>
            <a:ext cx="3584448" cy="2011680"/>
          </a:xfrm>
          <a:prstGeom prst="roundRect">
            <a:avLst>
              <a:gd name="adj" fmla="val 318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1416" y="42976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</a:rPr>
              <a:t>URL — pattern view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471416" y="4681728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Character 3–5-gram TF-IDF, 150K features — learns paypa1, micros0ft, -secure- without being told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01584" y="4160520"/>
            <a:ext cx="3584448" cy="2011680"/>
          </a:xfrm>
          <a:prstGeom prst="roundRect">
            <a:avLst>
              <a:gd name="adj" fmla="val 318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38744" y="42976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</a:rPr>
              <a:t>Email / message view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238744" y="4681728"/>
            <a:ext cx="3310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Word 1–2-gram + char 3–5-gram TF-IDF over cleaned text; URLs, addresses and long numbers generalised to tokens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Hybrid machine learning, engineered for trust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URL detector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Email / message detector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</a:rPr>
                        <a:t>Members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Logistic Regression · calibrated Linear SVM · Random Forest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Logistic Regression · calibrated Linear SVM · Naive Bayes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</a:rPr>
                        <a:t>Baseline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Decision Tree (for comparison)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Decision Tree (for comparison)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</a:rPr>
                        <a:t>Combiner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Soft voting, weights 1 : 4 : 1 picked on a validation split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Soft voting, weights 3 : 3 : 1 picked on a validation split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3611880"/>
            <a:ext cx="3584448" cy="2514600"/>
          </a:xfrm>
          <a:prstGeom prst="roundRect">
            <a:avLst>
              <a:gd name="adj" fmla="val 254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4088" y="376732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A30C"/>
                </a:solidFill>
              </a:rPr>
              <a:t>Two-factor verdicts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04088" y="4187952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The ML alone can never hard-block a page — the rule layer must corroborate. ML-only alarms become dismissable warnings.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34256" y="3611880"/>
            <a:ext cx="3584448" cy="2514600"/>
          </a:xfrm>
          <a:prstGeom prst="roundRect">
            <a:avLst>
              <a:gd name="adj" fmla="val 254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71416" y="376732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3B3B"/>
                </a:solidFill>
              </a:rPr>
              <a:t>Look-alike floors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471416" y="4187952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A disguised famous name (arnazon, paypa1) is decisive on its own: homoglyph + edit-distance matches carry a verdict floor.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01584" y="3611880"/>
            <a:ext cx="3584448" cy="2514600"/>
          </a:xfrm>
          <a:prstGeom prst="roundRect">
            <a:avLst>
              <a:gd name="adj" fmla="val 254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38744" y="376732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</a:rPr>
              <a:t>Risk blend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38744" y="4187952"/>
            <a:ext cx="3310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risk = 0.75 × ML probability + 0.25 × rule score → safe &lt; 40 ≤ suspicious &lt; 65 ≤ phishing. Every verdict shows its evidence.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Measured on held-out test sets — never on training data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463040"/>
                <a:gridCol w="1463040"/>
                <a:gridCol w="14630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Detector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URL ensemble (server)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98.60%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0.980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0.933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0.956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Email ensemble (server)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99.33%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URL on-device (extension)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98.48%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0.973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0.932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0.952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Email on-device (extension)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99.30%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0.993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claude/PhishGuard/results/url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611880"/>
            <a:ext cx="6583680" cy="2743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0" y="37033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Test sets: 82,249 URLs / 6,546 emails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Ensemble posts the best URL precision — ~20% fewer false alarms than the strongest single model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On-device model re-evaluated in its exact shipped form — published numbers are measured, not assumed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Single scan: ~1 ms in the extension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Global domain trust — false positives engineered out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3584448" cy="1920240"/>
          </a:xfrm>
          <a:prstGeom prst="roundRect">
            <a:avLst>
              <a:gd name="adj" fmla="val 333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A30C"/>
                </a:solidFill>
              </a:rPr>
              <a:t>Curated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783080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Verified banks and restricted registries (RBI's .bank.in, gov.in). Pattern rules off, strong benign prior.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34256" y="1234440"/>
            <a:ext cx="3584448" cy="1920240"/>
          </a:xfrm>
          <a:prstGeom prst="roundRect">
            <a:avLst>
              <a:gd name="adj" fmla="val 333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</a:rPr>
              <a:t>Popular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1783080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The world's top-1M most-visited domains — looked up offline in a 1.4 MB Bloom filter. Noisy rules off.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01584" y="1234440"/>
            <a:ext cx="3584448" cy="1920240"/>
          </a:xfrm>
          <a:prstGeom prst="roundRect">
            <a:avLst>
              <a:gd name="adj" fmla="val 3333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38744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500"/>
                </a:solidFill>
              </a:rPr>
              <a:t>Unknown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38744" y="1783080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</a:rPr>
              <a:t>Everything else: full scrutiny, plus a “not a top-1M site” signal — fresh phishing domains are never popular.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Mozilla Public Suffix List (10,397 rules): registered domains parsed correctly for every TLD on earth — co.uk, com.au, bank.in, github.io tenants, IDN hosts.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760,365 top domains → 1.37 MB Bloom filter (FNV-1a + djb2 double hashing, k=10, ~0.1% FP): O(1) reputation with zero network.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Query strings are never evidence — searching “sbi online login” can't trip the detector on any search engine.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Structural attacks (raw-IP host, punycode look-alikes, @-tricks) stay active on every tier — reputation never silences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The moment it matters: a phishing page, stopped</a:t>
            </a:r>
            <a:endParaRPr lang="en-US" sz="2900" dirty="0"/>
          </a:p>
        </p:txBody>
      </p:sp>
      <p:pic>
        <p:nvPicPr>
          <p:cNvPr id="3" name="Image 0" descr="/home/claude/PhishGuard/docs/images/extensi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617220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86600" y="16002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Every navigation is scored on-device before the page can load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paypal-secure.account-verify.tk → risk 92/100, blocked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The evidence is shown in plain words: suspicious TLD, brand impersonation, phishing keywords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“Back to safety” in one tap; “proceed anyway” stays available — the user keeps control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0CA30C"/>
                </a:solidFill>
              </a:rPr>
              <a:t>The URL was never sent anywhere — scored locally in ~1 ms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Mission control for security teams</a:t>
            </a:r>
            <a:endParaRPr lang="en-US" sz="2900" dirty="0"/>
          </a:p>
        </p:txBody>
      </p:sp>
      <p:pic>
        <p:nvPicPr>
          <p:cNvPr id="3" name="Image 0" descr="/home/claude/PhishGuard/docs/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15568"/>
            <a:ext cx="5120640" cy="5605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645920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Live threat feed — every verdict pushed over WebSockets, no refresh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Risk dial with per-model votes: see the three classifiers agree (or disagree)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Rule evidence and the learned tokens behind each decision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Verdict trends, scan console for URLs and emails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Model accuracy badges straight from the training metrics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FastAPI + SQLite + vendored Chart.js — runs offline, Dockerized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It doesn't just say “scam” — it names the scam</a:t>
            </a:r>
            <a:endParaRPr lang="en-US" sz="2900" dirty="0"/>
          </a:p>
        </p:txBody>
      </p:sp>
      <p:pic>
        <p:nvPicPr>
          <p:cNvPr id="3" name="Image 0" descr="/home/claude/PhishGuard/docs/images/extension_scam_analy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52144"/>
            <a:ext cx="242316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463040"/>
            <a:ext cx="7863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Paste any SMS, WhatsApp message or email into the extension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Verdict in 2 ms: “Phishing — Bank / KYC suspension scam, risk 83/100”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Ten scam families recognised: KYC blocks, OTP theft, lottery, job fees, investment doubling, courier fees, utility threats, tech support, sextortion, family impersonation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B1F3A"/>
                </a:solidFill>
              </a:rPr>
              <a:t>Then the part that actually protects people — tailored advice: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i="1" dirty="0">
                <a:solidFill>
                  <a:srgbClr val="5B6B82"/>
                </a:solidFill>
              </a:rPr>
              <a:t>“Banks NEVER send KYC links by SMS. Open your bank's app directly or call the number printed on your card.”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Advice written per scam family — what to do, what never to do, where to report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Check a QR before you pay</a:t>
            </a:r>
            <a:endParaRPr lang="en-US" sz="2900" dirty="0"/>
          </a:p>
        </p:txBody>
      </p:sp>
      <p:pic>
        <p:nvPicPr>
          <p:cNvPr id="3" name="Image 0" descr="/home/claude/PhishGuard/docs/images/extension_qr_che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52144"/>
            <a:ext cx="2423160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1554480"/>
            <a:ext cx="7863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Photo or screenshot of any QR — decoded entirely on the device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0B1F3A"/>
                </a:solidFill>
              </a:rPr>
              <a:t>UPI payment QRs are translated into plain words: “pays Chai Point · teastall@oksbi · ₹20”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Validates the payment handle against known UPI providers; flags malformed payees and bait-and-switch QRs that smuggle a web link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URL QRs go through the full phishing pipeline before you ever open them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Teaches the one rule that defeats QR fraud: you never need to scan anything to RECEIVE money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0CA30C"/>
                </a:solidFill>
              </a:rPr>
              <a:t>No QR photo ever leaves the phone or laptop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Private by architecture, verified by tests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07008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" y="131673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A30C"/>
                </a:solidFill>
              </a:rPr>
              <a:t>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04825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network requests made by the extension — the privacy claim is auditable in the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07008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25696" y="131673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</a:rPr>
              <a:t>2.7 MB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04825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the entire detector — 70K pruned TF-IDF weights + trust data, scoring in ~1 ms of JavaScript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65008" y="1207008"/>
            <a:ext cx="3557016" cy="1371600"/>
          </a:xfrm>
          <a:prstGeom prst="roundRect">
            <a:avLst>
              <a:gd name="adj" fmla="val 466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74736" y="131673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78D6"/>
                </a:solidFill>
              </a:rPr>
              <a:t>≈1e-6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174736" y="20482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</a:rPr>
              <a:t>JavaScript ↔ Python agreement, asserted by automated parity tests on every export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063240"/>
            <a:ext cx="10881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Both strong members are linear, so the model compresses to dot products — exported with vocabulary pruning and re-evaluated in exactly the shipped form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67 automated checks: 25 Python unit/API tests · 26 feature tests (look-alikes, scam families, UPI) · 16-case global URL regression · end-to-end Chromium test of the block flow, popup, QR and message analysis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Reproducible: one command downloads data, one trains, one exports — MIT licensed, documented (report, architecture, demo guide, viva Q&amp;A, product vision)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Chrome Web Store ready: Manifest V3, minimal permissions, privacy policy included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A"/>
                </a:solidFill>
              </a:rPr>
              <a:t>Where this goes next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</a:rPr>
              <a:t>Launch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173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Chrome Web Store (free core) → Firefox &amp; Edge ports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48716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243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</a:rPr>
              <a:t>Reach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62432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Webmail overlays (Gmail/Outlook) · Android share-target: “Share → PhishGuard” from WhatsApp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69417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313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</a:rPr>
              <a:t>Depth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831336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Multilingual scam packs (Hindi, Telugu, Tamil, Bengali) · WebGPU transformer as a fourth ensemble member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901184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3834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A30C"/>
                </a:solidFill>
              </a:rPr>
              <a:t>Revenue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5038344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Family tier — protect parents remotely, with user-keyed encrypted sync · Business tier on the existing dashboard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</a:rPr>
              <a:t>Free core forever — distribution is the product's oxygen. Privacy promise survives every tier: nothing readable ever leaves the user's devices.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hishGuard/extension/icons/icon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6060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Stop phishing before the click.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352044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98.6% URL · 99.3% email accuracy — measured, explained, and running entirely on your device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66344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4DE"/>
                </a:solidFill>
              </a:rPr>
              <a:t>github.com/shivakumar-07/PhishGuard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6636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</a:rPr>
              <a:t>Python · scikit-learn · FastAPI · WebSockets · Manifest V3 · Public Suffix List · Bloom filters · jsQR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Guard">
  <a:themeElements>
    <a:clrScheme name="PhishGuard">
      <a:dk1>
        <a:srgbClr val="0B1F3A"/>
      </a:dk1>
      <a:lt1>
        <a:srgbClr val="FFFFFF"/>
      </a:lt1>
      <a:dk2>
        <a:srgbClr val="1B2A41"/>
      </a:dk2>
      <a:lt2>
        <a:srgbClr val="EAF4FF"/>
      </a:lt2>
      <a:accent1>
        <a:srgbClr val="2A78D6"/>
      </a:accent1>
      <a:accent2>
        <a:srgbClr val="0CA30C"/>
      </a:accent2>
      <a:accent3>
        <a:srgbClr val="C98500"/>
      </a:accent3>
      <a:accent4>
        <a:srgbClr val="D03B3B"/>
      </a:accent4>
      <a:accent5>
        <a:srgbClr val="5B6B82"/>
      </a:accent5>
      <a:accent6>
        <a:srgbClr val="199E70"/>
      </a:accent6>
      <a:hlink>
        <a:srgbClr val="2A78D6"/>
      </a:hlink>
      <a:folHlink>
        <a:srgbClr val="5B6B82"/>
      </a:folHlink>
    </a:clrScheme>
    <a:fontScheme name="PhishGuar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— On-device AI against phishing and scams</dc:title>
  <dc:subject>PptxGenJS Presentation</dc:subject>
  <dc:creator>PhishGuard Team</dc:creator>
  <cp:lastModifiedBy>PhishGuard Team</cp:lastModifiedBy>
  <cp:revision>1</cp:revision>
  <dcterms:created xsi:type="dcterms:W3CDTF">2026-10-27T01:36:43Z</dcterms:created>
  <dcterms:modified xsi:type="dcterms:W3CDTF">2026-10-27T01:36:43Z</dcterms:modified>
</cp:coreProperties>
</file>