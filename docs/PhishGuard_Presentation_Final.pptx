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5"/>
    <p:sldId id="265" r:id="rId16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  <Relationship Id="rId15" Type="http://schemas.openxmlformats.org/officeDocument/2006/relationships/slide" Target="slides/slide9.xml"/>
  <Relationship Id="rId16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5299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project guide's name and team member names/roll numbers here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Lists the technical domains the project spans, and maps the work to SDG 16 as required by the guidelines.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the reference paper verbally: Karim, A., et al. 'Phishing Detection System Through Hybrid Machine Learning Based on URL,' IEEE Access, vol. 11, 2023.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 in current phishing defenses that PhishGuard addresses.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Five-stage pipeline from raw data to a live, user-facing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specific bullets here with your team's actual progress before presenting — this slide currently reflects the first two methodology stages as complete and model training as in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Outcomes PhishGuard is expected to deliver once built and evaluated.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9692640" y="4206240"/>
            <a:ext cx="3840480" cy="3291840"/>
          </a:xfrm>
          <a:prstGeom prst="triangle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10607040" y="4846320"/>
            <a:ext cx="2743200" cy="2377440"/>
          </a:xfrm>
          <a:prstGeom prst="triangle">
            <a:avLst/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 rot="-480000">
            <a:off x="8778240" y="5120640"/>
            <a:ext cx="2011680" cy="1828800"/>
          </a:xfrm>
          <a:prstGeom prst="triangle">
            <a:avLst/>
          </a:prstGeom>
          <a:solidFill>
            <a:srgbClr val="3FA9F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50" y="7626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FA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18745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Phishing Detection System</a:t>
            </a:r>
            <a:endParaRPr lang="en-US" sz="3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(URLs, Messages &amp; QR Payments) — On-Device Extension + Live Dashboard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35204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we could stop phishing before the click?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5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154807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4173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Threat Detection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203704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8" name="Image 1" descr="/home/claude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" y="2334463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203704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Deep Learning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48640" y="2990088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2" descr="/home/claude/icons/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3120847"/>
            <a:ext cx="241402" cy="24140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2990088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Processing for Email Analysis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48640" y="3776472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4" name="Image 3" descr="/home/claude/icons/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" y="39072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77647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&amp; Web Threat Analysis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48640" y="4562856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7" name="Image 4" descr="/home/claude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" y="4693615"/>
            <a:ext cx="241402" cy="24140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562856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&amp; Dashboards</a:t>
            </a:r>
            <a:endParaRPr lang="en-US" sz="1450" dirty="0"/>
          </a:p>
        </p:txBody>
      </p:sp>
      <p:sp>
        <p:nvSpPr>
          <p:cNvPr id="19" name="Shape 12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0" name="Image 5" descr="/home/claude/icons/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399" y="5479999"/>
            <a:ext cx="241402" cy="24140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53492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 — Peace, Justice &amp; Strong Institutions</a:t>
            </a:r>
            <a:endParaRPr lang="en-US" sz="1450" dirty="0"/>
          </a:p>
        </p:txBody>
      </p:sp>
      <p:sp>
        <p:nvSpPr>
          <p:cNvPr id="22" name="Shape 14"/>
          <p:cNvSpPr/>
          <p:nvPr/>
        </p:nvSpPr>
        <p:spPr>
          <a:xfrm>
            <a:off x="7772400" y="1371600"/>
            <a:ext cx="3931920" cy="3931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3" name="Shape 15"/>
          <p:cNvSpPr/>
          <p:nvPr/>
        </p:nvSpPr>
        <p:spPr>
          <a:xfrm>
            <a:off x="8412480" y="2011680"/>
            <a:ext cx="2651760" cy="2651760"/>
          </a:xfrm>
          <a:prstGeom prst="ellipse">
            <a:avLst/>
          </a:prstGeom>
          <a:solidFill>
            <a:srgbClr val="13294B"/>
          </a:solidFill>
          <a:ln/>
        </p:spPr>
      </p:sp>
      <p:pic>
        <p:nvPicPr>
          <p:cNvPr id="24" name="Image 6" descr="/home/claude/icons/netwo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2606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57200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5" name="Image 0" descr="/home/claude/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028" y="635508"/>
            <a:ext cx="329184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371600"/>
            <a:ext cx="11201400" cy="5074920"/>
          </a:xfrm>
          <a:prstGeom prst="roundRect">
            <a:avLst>
              <a:gd name="adj" fmla="val 1441"/>
            </a:avLst>
          </a:prstGeom>
          <a:solidFill>
            <a:srgbClr val="F4F8FC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673352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527048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tricks users into revealing sensitive information through deceptive URLs and fraudulent emails, and remains one of the most common cyber threats today.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2459736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313432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defenses rely mainly on static blacklists and rule-based filters, which fail against newly generated phishing links and evolving attack patterns.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7240" y="3246120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3099816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research (Karim et al., IEEE Access, 2023) shows that hybrid machine learning — combining classifiers such as Logistic Regression, SVM, and Decision Tree — outperforms any single model at classifying phishing URLs.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4032504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3886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 extends this hybrid approach to analyze both URL structure and email content, combining multiple ML models for stronger, more adaptive detection.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4818888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6" name="Text 13"/>
          <p:cNvSpPr/>
          <p:nvPr/>
        </p:nvSpPr>
        <p:spPr>
          <a:xfrm>
            <a:off x="1005840" y="4672584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threats are surfaced instantly through a real-time monitoring dashboard, giving users and security teams immediate visibility and alerts.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7240" y="5605272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5458968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scalable, adaptive phishing detection system that improves accuracy, reduces false positives, and supports safer digital communication.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DESCRIPTION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E1443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6" name="Image 0" descr="/home/claude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21" y="185732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58191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Deceptively Realistic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192024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emails and URLs closely mimic legitimate senders and sites, making manual detection unreliable.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70992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641" y="185732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58191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Blacklists Fall Behind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223760" y="192024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and blacklist filters can't keep pace with phishing domains that appear and disappear within hours.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06324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16" name="Image 2" descr="/home/claude/icons/user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921" y="35032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2278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Cues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463040" y="356616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often lack instant, reliable signals to tell safe links and emails apart before clicking or replying.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63640" y="306324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335584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21" name="Image 3" descr="/home/claude/icons/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9641" y="35032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23760" y="32278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Single-Channel Focus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223760" y="356616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inspect only URLs or only emails — not a unified system covering both attack vectors together.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02920" y="4709160"/>
            <a:ext cx="1120140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26" name="Image 4" descr="/home/claude/icons/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921" y="5149169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4873752"/>
            <a:ext cx="10012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Detection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463040" y="5212080"/>
            <a:ext cx="10012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instant alerts, breaches are often discovered only after credentials or data are already compromised.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3FA9F5"/>
          </a:solidFill>
          <a:ln/>
        </p:spPr>
      </p:sp>
      <p:sp>
        <p:nvSpPr>
          <p:cNvPr id="4" name="Shape 2"/>
          <p:cNvSpPr/>
          <p:nvPr/>
        </p:nvSpPr>
        <p:spPr>
          <a:xfrm>
            <a:off x="1074420" y="2811780"/>
            <a:ext cx="8613648" cy="0"/>
          </a:xfrm>
          <a:prstGeom prst="line">
            <a:avLst/>
          </a:prstGeom>
          <a:noFill/>
          <a:ln w="25400">
            <a:solidFill>
              <a:srgbClr val="3FA9F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64008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6" name="Image 0" descr="/home/claude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596896"/>
            <a:ext cx="429768" cy="429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8" name="Text 5"/>
          <p:cNvSpPr/>
          <p:nvPr/>
        </p:nvSpPr>
        <p:spPr>
          <a:xfrm>
            <a:off x="125272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labeled phishing &amp; legitimate URL and email datasets from public repositories.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78892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12" name="Image 1" descr="/home/claude/icons/co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376" y="2596896"/>
            <a:ext cx="429768" cy="4297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0156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4" name="Text 10"/>
          <p:cNvSpPr/>
          <p:nvPr/>
        </p:nvSpPr>
        <p:spPr>
          <a:xfrm>
            <a:off x="340156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65176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5176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URL features (length, domain age, special characters) and email features (headers, NLP content signals).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93776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18" name="Image 2" descr="/home/claude/icons/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2596896"/>
            <a:ext cx="429768" cy="42976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55040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20" name="Text 15"/>
          <p:cNvSpPr/>
          <p:nvPr/>
        </p:nvSpPr>
        <p:spPr>
          <a:xfrm>
            <a:off x="555040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80060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Model Training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0060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 ensemble (Logistic Regression, SVM, Decision Tree / Random Forest) combined via stacking or soft voting.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8660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24" name="Image 3" descr="/home/claude/icons/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6056" y="2596896"/>
            <a:ext cx="429768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69924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26" name="Text 20"/>
          <p:cNvSpPr/>
          <p:nvPr/>
        </p:nvSpPr>
        <p:spPr>
          <a:xfrm>
            <a:off x="769924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94944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Prediction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4944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model scores incoming URLs and emails instantly as new input arrives.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923544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30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2596896"/>
            <a:ext cx="429768" cy="429768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84808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32" name="Text 25"/>
          <p:cNvSpPr/>
          <p:nvPr/>
        </p:nvSpPr>
        <p:spPr>
          <a:xfrm>
            <a:off x="984808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909828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Alerts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09828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dashboard visualizes verdicts and trends, and pushes alerts for flagged threats.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PROGRESS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stages complete — system built, trained, tested and demo-ready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8" name="Text 6"/>
          <p:cNvSpPr/>
          <p:nvPr/>
        </p:nvSpPr>
        <p:spPr>
          <a:xfrm>
            <a:off x="281635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0" name="Text 8"/>
          <p:cNvSpPr/>
          <p:nvPr/>
        </p:nvSpPr>
        <p:spPr>
          <a:xfrm>
            <a:off x="505663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Model Training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2" name="Text 10"/>
          <p:cNvSpPr/>
          <p:nvPr/>
        </p:nvSpPr>
        <p:spPr>
          <a:xfrm>
            <a:off x="729691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Prediction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46404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4" name="Text 12"/>
          <p:cNvSpPr/>
          <p:nvPr/>
        </p:nvSpPr>
        <p:spPr>
          <a:xfrm>
            <a:off x="953719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Alerts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32888"/>
            <a:ext cx="164592" cy="164592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40280" y="2532888"/>
            <a:ext cx="164592" cy="164592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8" name="Text 16"/>
          <p:cNvSpPr/>
          <p:nvPr/>
        </p:nvSpPr>
        <p:spPr>
          <a:xfrm>
            <a:off x="247802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77640" y="2532888"/>
            <a:ext cx="164592" cy="164592"/>
          </a:xfrm>
          <a:prstGeom prst="ellipse">
            <a:avLst/>
          </a:prstGeom>
          <a:solidFill>
            <a:srgbClr val="5B6B82"/>
          </a:solidFill>
          <a:ln/>
        </p:spPr>
      </p:sp>
      <p:sp>
        <p:nvSpPr>
          <p:cNvPr id="20" name="Text 18"/>
          <p:cNvSpPr/>
          <p:nvPr/>
        </p:nvSpPr>
        <p:spPr>
          <a:xfrm>
            <a:off x="421538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288036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4F8FC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3154680"/>
            <a:ext cx="502920" cy="502920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23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3285439"/>
            <a:ext cx="241402" cy="24140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7320" y="317296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So Far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77240" y="3904488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987552" y="376732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and cleaned 411K labeled URLs and 45K emails, including 12K real-world phishing samples.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77240" y="4562856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987552" y="442569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full feature pipeline — 30 lexical URL features + character TF-IDF, and NLP email preprocessing.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77240" y="5221224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7"/>
          <p:cNvSpPr/>
          <p:nvPr/>
        </p:nvSpPr>
        <p:spPr>
          <a:xfrm>
            <a:off x="987552" y="508406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LR, SVM, Random Forest and Decision Tree; combined via validation-weighted soft voting.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77240" y="5879592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2" name="Text 29"/>
          <p:cNvSpPr/>
          <p:nvPr/>
        </p:nvSpPr>
        <p:spPr>
          <a:xfrm>
            <a:off x="987552" y="574243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the Scam Shield extension, real-time API and dashboard — 98.6% / 99.3% accuracy.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63640" y="288036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0B1F3A"/>
          </a:solidFill>
          <a:ln/>
        </p:spPr>
      </p:sp>
      <p:sp>
        <p:nvSpPr>
          <p:cNvPr id="34" name="Shape 31"/>
          <p:cNvSpPr/>
          <p:nvPr/>
        </p:nvSpPr>
        <p:spPr>
          <a:xfrm>
            <a:off x="6537960" y="3154680"/>
            <a:ext cx="502920" cy="502920"/>
          </a:xfrm>
          <a:prstGeom prst="ellipse">
            <a:avLst/>
          </a:prstGeom>
          <a:solidFill>
            <a:srgbClr val="3FA9F5"/>
          </a:solidFill>
          <a:ln/>
        </p:spPr>
      </p:sp>
      <p:pic>
        <p:nvPicPr>
          <p:cNvPr id="35" name="Image 1" descr="/home/claude/icons/hourgl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719" y="3285439"/>
            <a:ext cx="241402" cy="24140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7178040" y="317296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Ahead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6537960" y="3904488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38" name="Text 34"/>
          <p:cNvSpPr/>
          <p:nvPr/>
        </p:nvSpPr>
        <p:spPr>
          <a:xfrm>
            <a:off x="6748272" y="376732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 the Chrome Web Store; port to Firefox and Edge.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537960" y="4562856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0" name="Text 36"/>
          <p:cNvSpPr/>
          <p:nvPr/>
        </p:nvSpPr>
        <p:spPr>
          <a:xfrm>
            <a:off x="6748272" y="442569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scam packs — Hindi, Telugu and Tamil message analysis.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537960" y="5221224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2" name="Text 38"/>
          <p:cNvSpPr/>
          <p:nvPr/>
        </p:nvSpPr>
        <p:spPr>
          <a:xfrm>
            <a:off x="6748272" y="508406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share-target app — check a WhatsApp message in one tap.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537960" y="5879592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4" name="Text 40"/>
          <p:cNvSpPr/>
          <p:nvPr/>
        </p:nvSpPr>
        <p:spPr>
          <a:xfrm>
            <a:off x="6748272" y="574243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tier: protect parents from your phone, with privacy intact.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RESULTS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185166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Detection Accuracy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ensemble learning outperforms single-model and rule-based phishing filters.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426651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576072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185166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Positives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multiple classifiers reduces incorrect flags on legitimate URLs and emails.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6" name="Image 2" descr="/home/claude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185166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scoring and notifications minimize the window of exposure to an attack.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96596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1" name="Image 3" descr="/home/claude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4268" y="44119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New Threats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3152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patterns generalize to newly created phishing links, unlike static blacklists.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576072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6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41198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8056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Dashboard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 and users get live visibility into flagged threats and trends.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9244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30" name="Shape 23"/>
          <p:cNvSpPr/>
          <p:nvPr/>
        </p:nvSpPr>
        <p:spPr>
          <a:xfrm>
            <a:off x="955548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31" name="Image 5" descr="/home/claude/icons/user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3788" y="441198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Protection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suits individuals, small businesses, and enterprise inboxes alike.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9692640" y="4206240"/>
            <a:ext cx="3840480" cy="3291840"/>
          </a:xfrm>
          <a:prstGeom prst="triangle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10607040" y="4846320"/>
            <a:ext cx="2743200" cy="2377440"/>
          </a:xfrm>
          <a:prstGeom prst="triangle">
            <a:avLst/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 rot="-480000">
            <a:off x="-1280160" y="-914400"/>
            <a:ext cx="2743200" cy="2377440"/>
          </a:xfrm>
          <a:prstGeom prst="triangle">
            <a:avLst/>
          </a:prstGeom>
          <a:solidFill>
            <a:srgbClr val="3FA9F5"/>
          </a:solidFill>
          <a:ln/>
        </p:spPr>
      </p:sp>
      <p:sp>
        <p:nvSpPr>
          <p:cNvPr id="5" name="Shape 3"/>
          <p:cNvSpPr/>
          <p:nvPr/>
        </p:nvSpPr>
        <p:spPr>
          <a:xfrm>
            <a:off x="5660136" y="1371600"/>
            <a:ext cx="914400" cy="9144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6093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6517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4290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ACHIEVED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185166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98.60% URL / 99.33% email accuracy on held-out test sets (82,249 URLs, 6,546 emails).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426651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576072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185166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Positives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precision 0.980 on URLs — about 20% fewer false alarms than the best single model.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6" name="Image 2" descr="/home/claude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185166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Verdicts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score in milliseconds; every verdict is pushed live to the dashboard over WebSockets.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96596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1" name="Image 3" descr="/home/claude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4268" y="44119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by Design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3152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411K URLs and 12K real phishing emails; retraining is a single command.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576072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6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41198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8056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Dashboard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dial, rule-based evidence and learned tokens explain every verdict; live threat feed.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9244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30" name="Shape 23"/>
          <p:cNvSpPr/>
          <p:nvPr/>
        </p:nvSpPr>
        <p:spPr>
          <a:xfrm>
            <a:off x="955548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31" name="Image 5" descr="/home/claude/icons/user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3788" y="441198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Quality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 with fully on-device ML (zero network calls) + FastAPI service, Docker, 25 tests.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SCAM SHIELD — THE PRODUCT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185166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Browser Extension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ML detector in 2.7 MB of JavaScript — blocks phishing pages in ~1 ms, 100% offline.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426651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576072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185166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Domain Catcher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Homoglyph + edit-distance analysis exposes paypa1.com, arnazon.com and paypal.support instantly.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6" name="Image 2" descr="/home/claude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185166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Message Analyzer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SMS or WhatsApp text — it names the scam (KYC, job fee, courier, OTP theft) and says what to do.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96596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1" name="Image 3" descr="/home/claude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4268" y="44119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&amp; UPI Payment Checker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3152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Decodes any payment QR on your device and shows who the money really goes to — before you pay.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576072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6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41198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8056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Domain Trust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Suffix List + the world's top-1M sites in a 1.4 MB Bloom filter — false positives engineered out.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9244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30" name="Shape 23"/>
          <p:cNvSpPr/>
          <p:nvPr/>
        </p:nvSpPr>
        <p:spPr>
          <a:xfrm>
            <a:off x="955548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31" name="Image 5" descr="/home/claude/icons/user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3788" y="441198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Architecture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calls, no account, no telemetry — links, messages and QR photos never leave the browser.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810</Words>
  <Application>Microsoft Office PowerPoint</Application>
  <PresentationFormat>Widescreen</PresentationFormat>
  <Paragraphs>95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 charan</cp:lastModifiedBy>
  <cp:revision>3</cp:revision>
  <dcterms:created xsi:type="dcterms:W3CDTF">2026-10-13T06:03:15Z</dcterms:created>
  <dcterms:modified xsi:type="dcterms:W3CDTF">2026-10-13T06:06:22Z</dcterms:modified>
</cp:coreProperties>
</file>